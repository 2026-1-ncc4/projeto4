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Inter" panose="020B0502030000000004" pitchFamily="34" charset="0"/>
      <p:regular r:id="rId3"/>
    </p:embeddedFont>
    <p:embeddedFont>
      <p:font typeface="Open Sans 1" pitchFamily="2" charset="0"/>
      <p:regular r:id="rId4"/>
    </p:embeddedFont>
    <p:embeddedFont>
      <p:font typeface="Open Sans 1 Bold"/>
      <p:regular r:id="rId5"/>
    </p:embeddedFont>
    <p:embeddedFont>
      <p:font typeface="Open Sans 2" panose="020B0604020202020204" charset="0"/>
      <p:regular r:id="rId6"/>
    </p:embeddedFont>
    <p:embeddedFont>
      <p:font typeface="Open Sans 2 Bold" panose="020B0806030504020204" pitchFamily="34" charset="0"/>
      <p:regular r:id="rId7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1314" y="18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font" Target="fonts/font1.fntdata" /><Relationship Id="rId7" Type="http://schemas.openxmlformats.org/officeDocument/2006/relationships/font" Target="fonts/font5.fntdata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font" Target="fonts/font4.fntdata" /><Relationship Id="rId11" Type="http://schemas.openxmlformats.org/officeDocument/2006/relationships/tableStyles" Target="tableStyles.xml" /><Relationship Id="rId5" Type="http://schemas.openxmlformats.org/officeDocument/2006/relationships/font" Target="fonts/font3.fntdata" /><Relationship Id="rId10" Type="http://schemas.openxmlformats.org/officeDocument/2006/relationships/theme" Target="theme/theme1.xml" /><Relationship Id="rId4" Type="http://schemas.openxmlformats.org/officeDocument/2006/relationships/font" Target="fonts/font2.fntdata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jp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0" y="29306856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5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1337842" y="13437903"/>
            <a:ext cx="20464104" cy="12527228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9281" y="30517709"/>
            <a:ext cx="13840106" cy="7746634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306280" y="30470822"/>
            <a:ext cx="12480220" cy="7803505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sz="6769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4762" b="1" spc="179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803327" y="1200179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4" name="Freeform 34"/>
          <p:cNvSpPr/>
          <p:nvPr/>
        </p:nvSpPr>
        <p:spPr>
          <a:xfrm>
            <a:off x="21122074" y="1212646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748047" y="7730622"/>
            <a:ext cx="10206805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869448" y="18058832"/>
            <a:ext cx="9963998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14609" y="3810315"/>
            <a:ext cx="29324841" cy="2949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9600" b="1" spc="433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Canolli</a:t>
            </a:r>
            <a:r>
              <a:rPr lang="en-US" sz="9600" b="1" spc="433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360:</a:t>
            </a:r>
            <a:r>
              <a:rPr lang="pt-BR" sz="9600" b="1" spc="433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Análise Preditiva e Dashboards de Performance</a:t>
            </a:r>
            <a:endParaRPr lang="en-US" sz="9600" b="1" spc="433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20285" y="6546657"/>
            <a:ext cx="28073644" cy="1661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Discentes</a:t>
            </a: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Fernanda Loura, Gustavo Henrique, Lucas Alves, Nicolly Soares e </a:t>
            </a:r>
            <a:r>
              <a:rPr lang="en-US" sz="4762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Thiffany</a:t>
            </a:r>
            <a:r>
              <a:rPr lang="en-US" sz="4762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Morais</a:t>
            </a:r>
          </a:p>
          <a:p>
            <a:pPr algn="ctr">
              <a:lnSpc>
                <a:spcPts val="6668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Eduardo Savino, Lucy Mari Tabuti, Mauricio Lopes e </a:t>
            </a:r>
            <a:r>
              <a:rPr lang="en-US" sz="4762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Rodnil</a:t>
            </a:r>
            <a:r>
              <a:rPr lang="en-US" sz="4762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 Silva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617812" y="16099916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Receita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Mês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Foodtech</a:t>
            </a:r>
            <a:endParaRPr lang="en-US" sz="3430" spc="13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5353293" y="23110704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(2025)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966982" y="31719842"/>
            <a:ext cx="11399871" cy="673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PROVOST, Foster; FAWCETT, Tom.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</a:t>
            </a:r>
            <a:r>
              <a:rPr lang="pt-BR" sz="3430" i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Data Science para Negócios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. Rio de Janeiro: Alta Books, 2016.</a:t>
            </a:r>
            <a:endParaRPr lang="en-US" sz="3430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MCKINNEY, Wes.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</a:t>
            </a:r>
            <a:r>
              <a:rPr lang="pt-BR" sz="3430" i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Python para Análise de Dados: Tratamento de Dados com Pandas, </a:t>
            </a:r>
            <a:r>
              <a:rPr lang="pt-BR" sz="3430" i="1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NumPy</a:t>
            </a:r>
            <a:r>
              <a:rPr lang="pt-BR" sz="3430" i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e </a:t>
            </a:r>
            <a:r>
              <a:rPr lang="pt-BR" sz="3430" i="1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IPython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. São Paulo: </a:t>
            </a:r>
            <a:r>
              <a:rPr lang="pt-BR" sz="3430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Novatec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Editora, 2018.</a:t>
            </a:r>
            <a:endParaRPr lang="en-US" sz="3430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KNAFLIC, Cole </a:t>
            </a:r>
            <a:r>
              <a:rPr lang="pt-BR" sz="3430" b="1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Nussbaumer</a:t>
            </a:r>
            <a:r>
              <a:rPr lang="pt-BR" sz="343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.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</a:t>
            </a:r>
            <a:r>
              <a:rPr lang="pt-BR" sz="3430" i="1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Storytelling</a:t>
            </a:r>
            <a:r>
              <a:rPr lang="pt-BR" sz="3430" i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com Dados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. Rio de Janeiro: Alta Books, 2018. </a:t>
            </a:r>
          </a:p>
          <a:p>
            <a:pPr algn="just">
              <a:lnSpc>
                <a:spcPts val="4802"/>
              </a:lnSpc>
            </a:pPr>
            <a:r>
              <a:rPr lang="pt-BR" sz="343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SILVA, Rodrigo de Alvarenga.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</a:t>
            </a:r>
            <a:r>
              <a:rPr lang="pt-BR" sz="3430" i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Data Science e Marketing: Inteligência de Dados para Alavancar Resultados</a:t>
            </a:r>
            <a:r>
              <a:rPr lang="pt-BR" sz="343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. São Paulo: Casa do Código, 2021.</a:t>
            </a:r>
            <a:endParaRPr lang="pt-BR" sz="3430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 2"/>
            </a:endParaRP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 panose="020B0604020202020204" charset="0"/>
              <a:ea typeface="Open Sans 2" panose="020B0604020202020204" charset="0"/>
              <a:cs typeface="Open Sans 2" panose="020B0604020202020204" charset="0"/>
              <a:sym typeface="Open Sans 2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570062" y="31655476"/>
            <a:ext cx="12562767" cy="54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 projeto foi desenvolvido em Python, utilizando Pandas para tratamento e análise de dados. A visualização das informações é realizada com Vega-Altair, permitindo gráficos claros e interativos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Python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desenvolvimento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aplicação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regras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negócios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;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Pandas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tratamento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agregação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análise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dados;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Streamlit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criação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do dashboard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interativo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;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Vega-Altair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construção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visualizaç~loes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gráficas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595870" y="10749184"/>
            <a:ext cx="12562767" cy="762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 </a:t>
            </a:r>
            <a:r>
              <a:rPr lang="pt-BR" sz="3200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Canolli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Foodtech enfrenta o desafio de compreender profundamente o comportamento e as preferências de seus consumidores finais. A falta de visibilidade sobre o que o cliente consome, suas "dores" e os motivos reais de satisfação ou insatisfação impede a entrega de uma experiência personalizada.</a:t>
            </a:r>
          </a:p>
          <a:p>
            <a:endParaRPr lang="pt-BR" sz="3200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  <a:p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Além disso, há uma dificuldade crítica em identificar padrões de evasão (</a:t>
            </a:r>
            <a:r>
              <a:rPr lang="pt-BR" sz="3200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churn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) e o impacto real das campanhas de marketing. Sem uma análise de vendas convertidas e do retorno sobre as comunicações enviadas, o negócio carece de direcionamento estratégico para ajustar campanhas de baixo desempenho ou sugerir ações preditivas que incentivem o retorno de clientes inativos há mais de 30 </a:t>
            </a:r>
            <a:r>
              <a:rPr lang="pt-BR" sz="320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dias.</a:t>
            </a:r>
            <a:r>
              <a:rPr lang="pt-BR" sz="340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.</a:t>
            </a:r>
            <a:endParaRPr lang="pt-BR" sz="3400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  <a:p>
            <a:pPr algn="just">
              <a:lnSpc>
                <a:spcPts val="4802"/>
              </a:lnSpc>
            </a:pPr>
            <a:r>
              <a:rPr lang="pt-BR" sz="18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Key-words</a:t>
            </a:r>
            <a:r>
              <a:rPr lang="pt-BR" sz="18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:</a:t>
            </a:r>
            <a:r>
              <a:rPr lang="pt-BR" sz="18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Comportamento do Consumidor; Evasão (</a:t>
            </a:r>
            <a:r>
              <a:rPr lang="pt-BR" sz="18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Churn</a:t>
            </a:r>
            <a:r>
              <a:rPr lang="pt-BR" sz="18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); Análise Preditiva; Engajamento de Campanha.</a:t>
            </a:r>
            <a:endParaRPr lang="en-US" sz="1800" dirty="0">
              <a:solidFill>
                <a:srgbClr val="000000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570062" y="21124747"/>
            <a:ext cx="12562767" cy="7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 proposta consiste na implementação de uma arquitetura de dados baseada em </a:t>
            </a: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Python e </a:t>
            </a:r>
            <a:r>
              <a:rPr lang="pt-BR" sz="3200" b="1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Streamlit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 para transformar o comportamento do consumidor em inteligência estratégica. O foco central é o </a:t>
            </a: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monitoramento da jornada do cliente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, mapeando hábitos de consumo e identificando precocemente padrões de evasão (</a:t>
            </a:r>
            <a:r>
              <a:rPr lang="pt-BR" sz="3200" i="1" dirty="0" err="1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churn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), especialmente para usuários inativos há mais de 30 dias.</a:t>
            </a:r>
          </a:p>
          <a:p>
            <a:endParaRPr lang="pt-BR" sz="3200" dirty="0">
              <a:latin typeface="Open Sans 2" panose="020B0604020202020204" charset="0"/>
              <a:ea typeface="Open Sans 2" panose="020B0604020202020204" charset="0"/>
              <a:cs typeface="Open Sans 2" panose="020B0604020202020204" charset="0"/>
            </a:endParaRPr>
          </a:p>
          <a:p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Através de dashboards dinâmicos desenvolvidos com </a:t>
            </a: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Vega-Altair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, a solução permite mensurar a conversão real de campanhas e o retorno sobre o investimento (ROI). Além disso, o sistema fornece </a:t>
            </a:r>
            <a:r>
              <a:rPr lang="pt-BR" sz="3200" b="1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direcionamento preditivo</a:t>
            </a:r>
            <a:r>
              <a:rPr lang="pt-BR" sz="3200" dirty="0">
                <a:latin typeface="Open Sans 2" panose="020B0604020202020204" charset="0"/>
                <a:ea typeface="Open Sans 2" panose="020B0604020202020204" charset="0"/>
                <a:cs typeface="Open Sans 2" panose="020B0604020202020204" charset="0"/>
              </a:rPr>
              <a:t>, sugerindo ajustes imediatos em comunicações de baixo desempenho para garantir a fidelização rentável e o aumento contínuo do ticket médio.</a:t>
            </a:r>
            <a:endParaRPr lang="en-US" sz="320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pt-BR" sz="18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Key-words</a:t>
            </a:r>
            <a:r>
              <a:rPr lang="pt-BR" sz="18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:</a:t>
            </a:r>
            <a:r>
              <a:rPr lang="pt-BR" sz="18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Dashboards Interativos; Retenção de Clientes; Automação Analítica; Estratégia de CRM; Otimização de ROI.</a:t>
            </a:r>
            <a:endParaRPr lang="en-US" sz="1800" dirty="0">
              <a:solidFill>
                <a:srgbClr val="000000"/>
              </a:solidFill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 Escola de Comércio Álvares Penteado - FECAP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617812" y="10512520"/>
            <a:ext cx="11904157" cy="611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802"/>
              </a:lnSpc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Consolidação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Financeira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Posiconamento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no Mercado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Processamento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R$ 6,19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milhões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receita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total, com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crescimento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mensal de 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12,5%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;</a:t>
            </a:r>
          </a:p>
          <a:p>
            <a:pPr marL="457200" indent="-457200" algn="just">
              <a:lnSpc>
                <a:spcPts val="4802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Performance de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Vendas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Transparência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Monitoramento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108.488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vendas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registrando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uma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melhora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trimestral de 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35,2%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;</a:t>
            </a:r>
          </a:p>
          <a:p>
            <a:pPr marL="457200" indent="-457200" algn="just">
              <a:lnSpc>
                <a:spcPts val="4802"/>
              </a:lnSpc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Gestão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Clientes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Personalização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Acompanhmento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33,568 clients </a:t>
            </a:r>
            <a:r>
              <a:rPr lang="en-US" sz="320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ativos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(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alta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8,7% no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mês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) e ticket </a:t>
            </a:r>
            <a:r>
              <a:rPr lang="en-US" sz="32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médio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20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R$ 57,12</a:t>
            </a:r>
            <a:r>
              <a:rPr lang="en-US" sz="32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marL="457200" indent="-457200" algn="just">
              <a:lnSpc>
                <a:spcPts val="4802"/>
              </a:lnSpc>
              <a:buFont typeface="Arial" panose="020B0604020202020204" pitchFamily="34" charset="0"/>
              <a:buChar char="•"/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5617812" y="26023511"/>
            <a:ext cx="11904157" cy="3649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802"/>
              </a:lnSpc>
              <a:buFont typeface="Arial" panose="020B0604020202020204" pitchFamily="34" charset="0"/>
              <a:buChar char="•"/>
            </a:pPr>
            <a:r>
              <a:rPr lang="en-US" sz="343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Visibilidade</a:t>
            </a:r>
            <a:r>
              <a:rPr lang="en-US" sz="343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Estratégica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Identificação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tendência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alta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acentuada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receita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partir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novembro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com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pico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superior a </a:t>
            </a:r>
            <a:r>
              <a:rPr lang="en-US" sz="343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R$ 1,4 </a:t>
            </a:r>
            <a:r>
              <a:rPr lang="en-US" sz="343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milhão</a:t>
            </a:r>
            <a:r>
              <a:rPr lang="en-US" sz="343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mensal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em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2026.</a:t>
            </a:r>
          </a:p>
          <a:p>
            <a:pPr marL="457200" indent="-457200" algn="just">
              <a:lnSpc>
                <a:spcPts val="4802"/>
              </a:lnSpc>
              <a:buFont typeface="Arial" panose="020B0604020202020204" pitchFamily="34" charset="0"/>
              <a:buChar char="•"/>
            </a:pPr>
            <a:r>
              <a:rPr lang="en-US" sz="3430" b="1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Tomada de </a:t>
            </a:r>
            <a:r>
              <a:rPr lang="en-US" sz="3430" b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Descisão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Dashboards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interativos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que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permitem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filtrar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dados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por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período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loja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facilitando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nálise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indicadores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chave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(KPIs)</a:t>
            </a:r>
          </a:p>
        </p:txBody>
      </p:sp>
      <p:sp>
        <p:nvSpPr>
          <p:cNvPr id="60" name="AutoShape 4">
            <a:extLst>
              <a:ext uri="{FF2B5EF4-FFF2-40B4-BE49-F238E27FC236}">
                <a16:creationId xmlns:a16="http://schemas.microsoft.com/office/drawing/2014/main" id="{AFC13A30-9F6D-C6DE-14DA-CA8E73326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47813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255833A4-DCD9-E0C3-E391-89F5E3C7D4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5" t="2932" r="95" b="45825"/>
          <a:stretch>
            <a:fillRect/>
          </a:stretch>
        </p:blipFill>
        <p:spPr>
          <a:xfrm>
            <a:off x="17293537" y="16664125"/>
            <a:ext cx="8816021" cy="4437825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CC2A6488-E2B2-2213-8B0C-72C2076E4E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9" t="52996" b="1903"/>
          <a:stretch>
            <a:fillRect/>
          </a:stretch>
        </p:blipFill>
        <p:spPr>
          <a:xfrm>
            <a:off x="16056921" y="20926255"/>
            <a:ext cx="11554987" cy="45658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649</Words>
  <Application>Microsoft Office PowerPoint</Application>
  <PresentationFormat>Personalizar</PresentationFormat>
  <Paragraphs>34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cp:lastModifiedBy>Ying Yongflango</cp:lastModifiedBy>
  <cp:revision>6</cp:revision>
  <dcterms:created xsi:type="dcterms:W3CDTF">2006-08-16T00:00:00Z</dcterms:created>
  <dcterms:modified xsi:type="dcterms:W3CDTF">2026-05-04T21:33:40Z</dcterms:modified>
  <dc:identifier>DAHA7VomhzE</dc:identifier>
</cp:coreProperties>
</file>